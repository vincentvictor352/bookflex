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94829757-973C-4272-92D7-CBF8B1B17EF5}" type="datetimeFigureOut">
              <a:rPr lang="en-US" smtClean="0"/>
              <a:pPr/>
              <a:t>12/14/2025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CDAF146-0C9D-4E97-9B5B-A03158C1A2B5}"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CDAF146-0C9D-4E97-9B5B-A03158C1A2B5}"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CDAF146-0C9D-4E97-9B5B-A03158C1A2B5}"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94829757-973C-4272-92D7-CBF8B1B17EF5}" type="datetimeFigureOut">
              <a:rPr lang="en-US" smtClean="0"/>
              <a:pPr/>
              <a:t>12/14/2025</a:t>
            </a:fld>
            <a:endParaRPr lang="en-US"/>
          </a:p>
        </p:txBody>
      </p:sp>
      <p:sp>
        <p:nvSpPr>
          <p:cNvPr id="10" name="Slide Number Placeholder 9"/>
          <p:cNvSpPr>
            <a:spLocks noGrp="1"/>
          </p:cNvSpPr>
          <p:nvPr>
            <p:ph type="sldNum" sz="quarter" idx="16"/>
          </p:nvPr>
        </p:nvSpPr>
        <p:spPr/>
        <p:txBody>
          <a:bodyPr rtlCol="0"/>
          <a:lstStyle/>
          <a:p>
            <a:fld id="{CCDAF146-0C9D-4E97-9B5B-A03158C1A2B5}"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94829757-973C-4272-92D7-CBF8B1B17EF5}" type="datetimeFigureOut">
              <a:rPr lang="en-US" smtClean="0"/>
              <a:pPr/>
              <a:t>12/14/2025</a:t>
            </a:fld>
            <a:endParaRPr lang="en-US"/>
          </a:p>
        </p:txBody>
      </p:sp>
      <p:sp>
        <p:nvSpPr>
          <p:cNvPr id="12" name="Slide Number Placeholder 11"/>
          <p:cNvSpPr>
            <a:spLocks noGrp="1"/>
          </p:cNvSpPr>
          <p:nvPr>
            <p:ph type="sldNum" sz="quarter" idx="16"/>
          </p:nvPr>
        </p:nvSpPr>
        <p:spPr/>
        <p:txBody>
          <a:bodyPr rtlCol="0"/>
          <a:lstStyle/>
          <a:p>
            <a:fld id="{CCDAF146-0C9D-4E97-9B5B-A03158C1A2B5}"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CDAF146-0C9D-4E97-9B5B-A03158C1A2B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CDAF146-0C9D-4E97-9B5B-A03158C1A2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CDAF146-0C9D-4E97-9B5B-A03158C1A2B5}"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94829757-973C-4272-92D7-CBF8B1B17EF5}" type="datetimeFigureOut">
              <a:rPr lang="en-US" smtClean="0"/>
              <a:pPr/>
              <a:t>12/14/2025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CDAF146-0C9D-4E97-9B5B-A03158C1A2B5}"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4829757-973C-4272-92D7-CBF8B1B17EF5}"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DAF146-0C9D-4E97-9B5B-A03158C1A2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94829757-973C-4272-92D7-CBF8B1B17EF5}" type="datetimeFigureOut">
              <a:rPr lang="en-US" smtClean="0"/>
              <a:pPr/>
              <a:t>12/14/2025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CDAF146-0C9D-4E97-9B5B-A03158C1A2B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94829757-973C-4272-92D7-CBF8B1B17EF5}" type="datetimeFigureOut">
              <a:rPr lang="en-US" smtClean="0"/>
              <a:pPr/>
              <a:t>12/14/2025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CDAF146-0C9D-4E97-9B5B-A03158C1A2B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kido600/bank_api.git" TargetMode="External"/><Relationship Id="rId2" Type="http://schemas.openxmlformats.org/officeDocument/2006/relationships/hyperlink" Target="https://github.com/skido600/todotask.g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2976" y="571480"/>
            <a:ext cx="7242072" cy="1857388"/>
          </a:xfrm>
        </p:spPr>
        <p:txBody>
          <a:bodyPr>
            <a:noAutofit/>
          </a:bodyPr>
          <a:lstStyle/>
          <a:p>
            <a:pPr algn="ctr">
              <a:lnSpc>
                <a:spcPct val="150000"/>
              </a:lnSpc>
            </a:pPr>
            <a:r>
              <a:rPr lang="en-US" sz="2400" dirty="0" smtClean="0">
                <a:latin typeface="Arial Black" pitchFamily="34" charset="0"/>
              </a:rPr>
              <a:t>SWIES/IT Defence presentation</a:t>
            </a:r>
            <a:br>
              <a:rPr lang="en-US" sz="2400" dirty="0" smtClean="0">
                <a:latin typeface="Arial Black" pitchFamily="34" charset="0"/>
              </a:rPr>
            </a:br>
            <a:r>
              <a:rPr lang="en-US" sz="2400" dirty="0" smtClean="0">
                <a:latin typeface="Arial Black" pitchFamily="34" charset="0"/>
              </a:rPr>
              <a:t>BY </a:t>
            </a:r>
            <a:r>
              <a:rPr lang="en-US" sz="2400" dirty="0" smtClean="0">
                <a:solidFill>
                  <a:schemeClr val="tx1"/>
                </a:solidFill>
                <a:effectLst>
                  <a:outerShdw blurRad="38100" dist="38100" dir="2700000" algn="tl">
                    <a:srgbClr val="000000">
                      <a:alpha val="43137"/>
                    </a:srgbClr>
                  </a:outerShdw>
                </a:effectLst>
                <a:latin typeface="Arial Black" pitchFamily="34" charset="0"/>
              </a:rPr>
              <a:t/>
            </a:r>
            <a:br>
              <a:rPr lang="en-US" sz="2400" dirty="0" smtClean="0">
                <a:solidFill>
                  <a:schemeClr val="tx1"/>
                </a:solidFill>
                <a:effectLst>
                  <a:outerShdw blurRad="38100" dist="38100" dir="2700000" algn="tl">
                    <a:srgbClr val="000000">
                      <a:alpha val="43137"/>
                    </a:srgbClr>
                  </a:outerShdw>
                </a:effectLst>
                <a:latin typeface="Arial Black" pitchFamily="34" charset="0"/>
              </a:rPr>
            </a:br>
            <a:endParaRPr lang="en-US" sz="2000" dirty="0">
              <a:solidFill>
                <a:schemeClr val="tx1">
                  <a:lumMod val="95000"/>
                </a:schemeClr>
              </a:solidFill>
              <a:latin typeface="Arial" pitchFamily="34" charset="0"/>
              <a:cs typeface="Arial" pitchFamily="34" charset="0"/>
            </a:endParaRPr>
          </a:p>
        </p:txBody>
      </p:sp>
      <p:sp>
        <p:nvSpPr>
          <p:cNvPr id="3" name="Subtitle 2"/>
          <p:cNvSpPr>
            <a:spLocks noGrp="1"/>
          </p:cNvSpPr>
          <p:nvPr>
            <p:ph type="subTitle" idx="1"/>
          </p:nvPr>
        </p:nvSpPr>
        <p:spPr>
          <a:xfrm>
            <a:off x="714348" y="2357430"/>
            <a:ext cx="7854696" cy="3000396"/>
          </a:xfrm>
        </p:spPr>
        <p:txBody>
          <a:bodyPr>
            <a:normAutofit/>
          </a:bodyPr>
          <a:lstStyle/>
          <a:p>
            <a:pPr algn="ctr"/>
            <a:r>
              <a:rPr lang="en-US" sz="2400" b="1" dirty="0" smtClean="0">
                <a:solidFill>
                  <a:schemeClr val="tx1">
                    <a:lumMod val="95000"/>
                  </a:schemeClr>
                </a:solidFill>
                <a:latin typeface="Arial" pitchFamily="34" charset="0"/>
                <a:cs typeface="Arial" pitchFamily="34" charset="0"/>
              </a:rPr>
              <a:t>Name :  </a:t>
            </a:r>
            <a:r>
              <a:rPr lang="en-US" sz="2400" dirty="0" smtClean="0">
                <a:solidFill>
                  <a:schemeClr val="tx1">
                    <a:lumMod val="95000"/>
                  </a:schemeClr>
                </a:solidFill>
                <a:latin typeface="Arial" pitchFamily="34" charset="0"/>
                <a:cs typeface="Arial" pitchFamily="34" charset="0"/>
              </a:rPr>
              <a:t>Ebisi chinecherem Leonard</a:t>
            </a:r>
            <a:br>
              <a:rPr lang="en-US" sz="2400" dirty="0" smtClean="0">
                <a:solidFill>
                  <a:schemeClr val="tx1">
                    <a:lumMod val="95000"/>
                  </a:schemeClr>
                </a:solidFill>
                <a:latin typeface="Arial" pitchFamily="34" charset="0"/>
                <a:cs typeface="Arial" pitchFamily="34" charset="0"/>
              </a:rPr>
            </a:br>
            <a:r>
              <a:rPr lang="en-US" sz="2400" b="1" dirty="0" smtClean="0">
                <a:solidFill>
                  <a:schemeClr val="tx1">
                    <a:lumMod val="95000"/>
                  </a:schemeClr>
                </a:solidFill>
                <a:latin typeface="Arial" pitchFamily="34" charset="0"/>
                <a:cs typeface="Arial" pitchFamily="34" charset="0"/>
              </a:rPr>
              <a:t>martic number :  </a:t>
            </a:r>
            <a:r>
              <a:rPr lang="en-US" sz="2000" dirty="0" smtClean="0">
                <a:solidFill>
                  <a:schemeClr val="tx1">
                    <a:lumMod val="95000"/>
                  </a:schemeClr>
                </a:solidFill>
                <a:latin typeface="Arial" pitchFamily="34" charset="0"/>
                <a:cs typeface="Arial" pitchFamily="34" charset="0"/>
              </a:rPr>
              <a:t>NS/CSC/22/7428</a:t>
            </a:r>
            <a:br>
              <a:rPr lang="en-US" sz="2000" dirty="0" smtClean="0">
                <a:solidFill>
                  <a:schemeClr val="tx1">
                    <a:lumMod val="95000"/>
                  </a:schemeClr>
                </a:solidFill>
                <a:latin typeface="Arial" pitchFamily="34" charset="0"/>
                <a:cs typeface="Arial" pitchFamily="34" charset="0"/>
              </a:rPr>
            </a:br>
            <a:r>
              <a:rPr lang="en-US" sz="2400" b="1" dirty="0" smtClean="0">
                <a:solidFill>
                  <a:schemeClr val="tx1">
                    <a:lumMod val="95000"/>
                  </a:schemeClr>
                </a:solidFill>
                <a:latin typeface="Arial" pitchFamily="34" charset="0"/>
                <a:cs typeface="Arial" pitchFamily="34" charset="0"/>
              </a:rPr>
              <a:t>Organization :  </a:t>
            </a:r>
            <a:r>
              <a:rPr lang="en-US" sz="2400" dirty="0" smtClean="0">
                <a:solidFill>
                  <a:schemeClr val="tx1">
                    <a:lumMod val="95000"/>
                  </a:schemeClr>
                </a:solidFill>
                <a:latin typeface="Arial" pitchFamily="34" charset="0"/>
                <a:cs typeface="Arial" pitchFamily="34" charset="0"/>
              </a:rPr>
              <a:t>kodex  African</a:t>
            </a:r>
          </a:p>
          <a:p>
            <a:pPr algn="ctr"/>
            <a:r>
              <a:rPr lang="en-US" sz="2800" dirty="0" smtClean="0">
                <a:solidFill>
                  <a:schemeClr val="tx1">
                    <a:lumMod val="95000"/>
                  </a:schemeClr>
                </a:solidFill>
                <a:latin typeface="Arial" pitchFamily="34" charset="0"/>
                <a:cs typeface="Arial" pitchFamily="34" charset="0"/>
              </a:rPr>
              <a:t/>
            </a:r>
            <a:br>
              <a:rPr lang="en-US" sz="2800" dirty="0" smtClean="0">
                <a:solidFill>
                  <a:schemeClr val="tx1">
                    <a:lumMod val="95000"/>
                  </a:schemeClr>
                </a:solidFill>
                <a:latin typeface="Arial" pitchFamily="34" charset="0"/>
                <a:cs typeface="Arial" pitchFamily="34" charset="0"/>
              </a:rPr>
            </a:br>
            <a:r>
              <a:rPr lang="en-US" sz="3200" b="1" dirty="0" smtClean="0"/>
              <a:t>Apr 1</a:t>
            </a:r>
            <a:r>
              <a:rPr lang="en-US" sz="3200" b="1" baseline="30000" dirty="0" smtClean="0"/>
              <a:t>TH</a:t>
            </a:r>
            <a:r>
              <a:rPr lang="en-US" sz="3200" b="1" dirty="0" smtClean="0"/>
              <a:t> - SEPTEMBER 31</a:t>
            </a:r>
            <a:r>
              <a:rPr lang="en-US" sz="3200" b="1" baseline="30000" dirty="0" smtClean="0"/>
              <a:t>TH</a:t>
            </a:r>
            <a:r>
              <a:rPr lang="en-US" sz="3200" b="1" dirty="0" smtClean="0"/>
              <a:t>, 2025. </a:t>
            </a:r>
            <a:endParaRPr lang="en-US" sz="3200" dirty="0" smtClean="0"/>
          </a:p>
          <a:p>
            <a:pPr algn="ctr"/>
            <a:endParaRPr lang="en-US" sz="2800" b="1" dirty="0" smtClean="0">
              <a:effectLst>
                <a:outerShdw blurRad="38100" dist="38100" dir="2700000" algn="tl">
                  <a:srgbClr val="000000">
                    <a:alpha val="43137"/>
                  </a:srgbClr>
                </a:outerShdw>
              </a:effectLst>
              <a:latin typeface="Arial Black"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000" dirty="0" smtClean="0">
                <a:latin typeface="Arial Black" pitchFamily="34" charset="0"/>
              </a:rPr>
              <a:t>Kodex Africa </a:t>
            </a:r>
            <a:r>
              <a:rPr lang="en-US" sz="2000" b="1" dirty="0" smtClean="0">
                <a:latin typeface="Arial Black" pitchFamily="34" charset="0"/>
              </a:rPr>
              <a:t>(Summary)</a:t>
            </a:r>
            <a:r>
              <a:rPr lang="en-US" sz="2000" dirty="0" smtClean="0">
                <a:latin typeface="Arial Black" pitchFamily="34" charset="0"/>
              </a:rPr>
              <a:t/>
            </a:r>
            <a:br>
              <a:rPr lang="en-US" sz="2000" dirty="0" smtClean="0">
                <a:latin typeface="Arial Black" pitchFamily="34" charset="0"/>
              </a:rPr>
            </a:br>
            <a:endParaRPr lang="en-US" sz="2000" dirty="0">
              <a:latin typeface="Arial Black" pitchFamily="34" charset="0"/>
            </a:endParaRPr>
          </a:p>
        </p:txBody>
      </p:sp>
      <p:sp>
        <p:nvSpPr>
          <p:cNvPr id="3" name="Content Placeholder 2"/>
          <p:cNvSpPr>
            <a:spLocks noGrp="1"/>
          </p:cNvSpPr>
          <p:nvPr>
            <p:ph sz="quarter" idx="1"/>
          </p:nvPr>
        </p:nvSpPr>
        <p:spPr>
          <a:xfrm>
            <a:off x="142844" y="1600200"/>
            <a:ext cx="8623204" cy="4495800"/>
          </a:xfrm>
        </p:spPr>
        <p:txBody>
          <a:bodyPr>
            <a:normAutofit/>
          </a:bodyPr>
          <a:lstStyle/>
          <a:p>
            <a:pPr>
              <a:lnSpc>
                <a:spcPct val="150000"/>
              </a:lnSpc>
              <a:buNone/>
            </a:pPr>
            <a:r>
              <a:rPr lang="en-US" sz="2400" dirty="0" smtClean="0"/>
              <a:t>     Kodex Africa is a tech organization that trains and mentors young people in technology. Started in 2021 as Kodex Limited and has grown into a bigger and stronger tech community. The company helps people learn tech skills, build projects, and get real experience.They focus on empowering African youths and creating opportunities in the tech industry.Their goal is to support learning, innovation, and professional growth.  </a:t>
            </a:r>
            <a:r>
              <a:rPr lang="en-US" sz="2400" b="1" dirty="0" smtClean="0"/>
              <a:t>Located at:</a:t>
            </a:r>
            <a:r>
              <a:rPr lang="en-US" sz="2400" dirty="0" smtClean="0"/>
              <a:t> No. 127, Iyiagu Housing Estate, Awka, Anambra, Nigeria.</a:t>
            </a:r>
          </a:p>
          <a:p>
            <a:pPr>
              <a:lnSpc>
                <a:spcPct val="150000"/>
              </a:lnSpc>
              <a:buNone/>
            </a:pP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000" dirty="0" smtClean="0">
                <a:latin typeface="Arial Black" pitchFamily="34" charset="0"/>
              </a:rPr>
              <a:t>Experience Gathered (NODE JS, EXPRESS JS BACKEND &amp;&amp; MongoDB)</a:t>
            </a:r>
            <a:endParaRPr lang="en-US" sz="2000" dirty="0">
              <a:latin typeface="Arial Black" pitchFamily="34" charset="0"/>
            </a:endParaRPr>
          </a:p>
        </p:txBody>
      </p:sp>
      <p:pic>
        <p:nvPicPr>
          <p:cNvPr id="13" name="Content Placeholder 12" descr="ChatGPT Image Nov 15, 2025, 01_53_06 AM.png"/>
          <p:cNvPicPr>
            <a:picLocks noGrp="1" noChangeAspect="1"/>
          </p:cNvPicPr>
          <p:nvPr>
            <p:ph sz="quarter" idx="1"/>
          </p:nvPr>
        </p:nvPicPr>
        <p:blipFill>
          <a:blip r:embed="rId2"/>
          <a:stretch>
            <a:fillRect/>
          </a:stretch>
        </p:blipFill>
        <p:spPr>
          <a:xfrm>
            <a:off x="285720" y="1643050"/>
            <a:ext cx="4759347" cy="4495800"/>
          </a:xfrm>
        </p:spPr>
      </p:pic>
      <p:sp>
        <p:nvSpPr>
          <p:cNvPr id="14" name="TextBox 13"/>
          <p:cNvSpPr txBox="1"/>
          <p:nvPr/>
        </p:nvSpPr>
        <p:spPr>
          <a:xfrm>
            <a:off x="5214943" y="1714488"/>
            <a:ext cx="3429023" cy="3847207"/>
          </a:xfrm>
          <a:prstGeom prst="rect">
            <a:avLst/>
          </a:prstGeom>
          <a:noFill/>
        </p:spPr>
        <p:txBody>
          <a:bodyPr wrap="square" rtlCol="0">
            <a:spAutoFit/>
          </a:bodyPr>
          <a:lstStyle/>
          <a:p>
            <a:r>
              <a:rPr lang="en-US" sz="1600" dirty="0"/>
              <a:t>During my Student Industrial Work Experience Scheme (SIWES) </a:t>
            </a:r>
            <a:r>
              <a:rPr lang="en-US" sz="1600" b="1" dirty="0"/>
              <a:t>at Kodex African, Awka</a:t>
            </a:r>
            <a:r>
              <a:rPr lang="en-US" sz="1600" dirty="0"/>
              <a:t>, I was </a:t>
            </a:r>
            <a:r>
              <a:rPr lang="en-US" sz="1600" dirty="0" smtClean="0"/>
              <a:t>privileged </a:t>
            </a:r>
            <a:r>
              <a:rPr lang="en-US" sz="1600" dirty="0"/>
              <a:t>to undergo intensive training and practical exposure to </a:t>
            </a:r>
            <a:r>
              <a:rPr lang="en-US" sz="1600" b="1" dirty="0"/>
              <a:t>backend development </a:t>
            </a:r>
            <a:r>
              <a:rPr lang="en-US" sz="1600" dirty="0"/>
              <a:t>using modern web technologies such as </a:t>
            </a:r>
            <a:r>
              <a:rPr lang="en-US" sz="1600" b="1" dirty="0"/>
              <a:t>Node.js, Express.js, MongoDB</a:t>
            </a:r>
            <a:r>
              <a:rPr lang="en-US" sz="1600" dirty="0"/>
              <a:t>, </a:t>
            </a:r>
            <a:r>
              <a:rPr lang="en-US" sz="1600" dirty="0" smtClean="0"/>
              <a:t>APIs</a:t>
            </a:r>
            <a:r>
              <a:rPr lang="en-US" sz="1600" dirty="0"/>
              <a:t>, and other essential backend tools. </a:t>
            </a:r>
          </a:p>
          <a:p>
            <a:r>
              <a:rPr lang="en-US" sz="1600" dirty="0"/>
              <a:t>The experience allowed me to move beyond theoretical knowledge and understand how real-world backend systems are structured, developed, and maintained. </a:t>
            </a:r>
          </a:p>
          <a:p>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latin typeface="Arial Black" pitchFamily="34" charset="0"/>
              </a:rPr>
              <a:t>Node.js </a:t>
            </a:r>
            <a:endParaRPr lang="en-US" sz="2400" dirty="0">
              <a:latin typeface="Arial Black" pitchFamily="34" charset="0"/>
            </a:endParaRPr>
          </a:p>
        </p:txBody>
      </p:sp>
      <p:sp>
        <p:nvSpPr>
          <p:cNvPr id="3" name="Content Placeholder 2"/>
          <p:cNvSpPr>
            <a:spLocks noGrp="1"/>
          </p:cNvSpPr>
          <p:nvPr>
            <p:ph sz="quarter" idx="1"/>
          </p:nvPr>
        </p:nvSpPr>
        <p:spPr/>
        <p:txBody>
          <a:bodyPr>
            <a:normAutofit/>
          </a:bodyPr>
          <a:lstStyle/>
          <a:p>
            <a:r>
              <a:rPr lang="en-US" sz="2400" dirty="0" smtClean="0"/>
              <a:t>A JavaScript runtime that allows user to run JavaScript on the server, enabling you to build backend applications. It uses an event-driven, non-blocking I/O model for high performance.</a:t>
            </a:r>
          </a:p>
          <a:p>
            <a:endParaRPr lang="en-US" sz="2400" dirty="0" smtClean="0"/>
          </a:p>
          <a:p>
            <a:pPr>
              <a:buNone/>
            </a:pPr>
            <a:r>
              <a:rPr lang="en-US" sz="2400" b="1" dirty="0" smtClean="0"/>
              <a:t>   Core Modules Practice:</a:t>
            </a:r>
            <a:endParaRPr lang="en-US" sz="2400" dirty="0" smtClean="0"/>
          </a:p>
          <a:p>
            <a:r>
              <a:rPr lang="en-US" sz="2400" b="1" dirty="0" smtClean="0"/>
              <a:t>fs (File System):</a:t>
            </a:r>
            <a:r>
              <a:rPr lang="en-US" sz="2400" dirty="0" smtClean="0"/>
              <a:t> Read, write, and manage files programmatically.</a:t>
            </a:r>
          </a:p>
          <a:p>
            <a:r>
              <a:rPr lang="en-US" sz="2400" b="1" dirty="0" smtClean="0"/>
              <a:t>path:</a:t>
            </a:r>
            <a:r>
              <a:rPr lang="en-US" sz="2400" dirty="0" smtClean="0"/>
              <a:t> Handle and manipulate file paths safely.</a:t>
            </a:r>
          </a:p>
          <a:p>
            <a:r>
              <a:rPr lang="en-US" sz="2400" b="1" dirty="0" smtClean="0"/>
              <a:t>os:</a:t>
            </a:r>
            <a:r>
              <a:rPr lang="en-US" sz="2400" dirty="0" smtClean="0"/>
              <a:t> Access system-related information like CPU, memory, and OS type.</a:t>
            </a:r>
          </a:p>
          <a:p>
            <a:pPr>
              <a:buNone/>
            </a:pP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latin typeface="Arial Black" pitchFamily="34" charset="0"/>
              </a:rPr>
              <a:t>Express.js</a:t>
            </a:r>
            <a:endParaRPr lang="en-US" sz="2400" b="1" dirty="0">
              <a:latin typeface="Arial Black" pitchFamily="34" charset="0"/>
            </a:endParaRPr>
          </a:p>
        </p:txBody>
      </p:sp>
      <p:sp>
        <p:nvSpPr>
          <p:cNvPr id="3" name="Content Placeholder 2"/>
          <p:cNvSpPr>
            <a:spLocks noGrp="1"/>
          </p:cNvSpPr>
          <p:nvPr>
            <p:ph sz="quarter" idx="1"/>
          </p:nvPr>
        </p:nvSpPr>
        <p:spPr>
          <a:xfrm>
            <a:off x="612648" y="1600200"/>
            <a:ext cx="8153400" cy="4972072"/>
          </a:xfrm>
        </p:spPr>
        <p:txBody>
          <a:bodyPr>
            <a:normAutofit fontScale="92500" lnSpcReduction="10000"/>
          </a:bodyPr>
          <a:lstStyle/>
          <a:p>
            <a:r>
              <a:rPr lang="en-US" sz="2400" dirty="0" smtClean="0"/>
              <a:t>A lightweight framework for Node.js that simplifies building web servers and APIs by providing routing, middleware, and request/response handling.</a:t>
            </a:r>
          </a:p>
          <a:p>
            <a:endParaRPr lang="en-US" sz="2400" dirty="0" smtClean="0"/>
          </a:p>
          <a:p>
            <a:r>
              <a:rPr lang="en-US" sz="2400" dirty="0" smtClean="0"/>
              <a:t>Created RESTful APIs</a:t>
            </a:r>
          </a:p>
          <a:p>
            <a:r>
              <a:rPr lang="en-US" sz="2400" dirty="0" smtClean="0"/>
              <a:t>Used middleware, routing, and request handling (req.body, req.params, req.query)</a:t>
            </a:r>
          </a:p>
          <a:p>
            <a:r>
              <a:rPr lang="en-US" sz="2400" dirty="0" smtClean="0"/>
              <a:t>Implemented error handling and response formatting</a:t>
            </a:r>
          </a:p>
          <a:p>
            <a:endParaRPr lang="en-US" sz="2400" dirty="0" smtClean="0"/>
          </a:p>
          <a:p>
            <a:pPr algn="ctr">
              <a:buNone/>
            </a:pPr>
            <a:r>
              <a:rPr lang="en-US" sz="2400" b="1" dirty="0" smtClean="0"/>
              <a:t>Understanding middleware</a:t>
            </a:r>
          </a:p>
          <a:p>
            <a:r>
              <a:rPr lang="en-US" sz="2200" dirty="0" smtClean="0"/>
              <a:t>Middleware in Express.js runs </a:t>
            </a:r>
            <a:r>
              <a:rPr lang="en-US" sz="2200" b="1" dirty="0" smtClean="0"/>
              <a:t>before the request reaches the route</a:t>
            </a:r>
            <a:r>
              <a:rPr lang="en-US" sz="2200" dirty="0" smtClean="0"/>
              <a:t> and </a:t>
            </a:r>
            <a:r>
              <a:rPr lang="en-US" sz="2200" b="1" dirty="0" smtClean="0"/>
              <a:t>before the response is sent</a:t>
            </a:r>
            <a:r>
              <a:rPr lang="en-US" sz="2200" dirty="0" smtClean="0"/>
              <a:t>. It can </a:t>
            </a:r>
            <a:r>
              <a:rPr lang="en-US" sz="2200" b="1" dirty="0" smtClean="0"/>
              <a:t>check, modify, or handle the request</a:t>
            </a:r>
            <a:r>
              <a:rPr lang="en-US" sz="2200" dirty="0" smtClean="0"/>
              <a:t>, then pass it along to the next function. Think of it like </a:t>
            </a:r>
            <a:r>
              <a:rPr lang="en-US" sz="2200" b="1" dirty="0" smtClean="0"/>
              <a:t>a chain of steps the request goes through</a:t>
            </a:r>
            <a:r>
              <a:rPr lang="en-US" sz="2200" dirty="0" smtClean="0"/>
              <a:t> before the final response.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latin typeface="Arial Black" pitchFamily="34" charset="0"/>
              </a:rPr>
              <a:t>MongoDB Database</a:t>
            </a:r>
            <a:endParaRPr lang="en-US" sz="2400" dirty="0">
              <a:latin typeface="Arial Black" pitchFamily="34" charset="0"/>
            </a:endParaRPr>
          </a:p>
        </p:txBody>
      </p:sp>
      <p:sp>
        <p:nvSpPr>
          <p:cNvPr id="3" name="Content Placeholder 2"/>
          <p:cNvSpPr>
            <a:spLocks noGrp="1"/>
          </p:cNvSpPr>
          <p:nvPr>
            <p:ph sz="quarter" idx="1"/>
          </p:nvPr>
        </p:nvSpPr>
        <p:spPr/>
        <p:txBody>
          <a:bodyPr>
            <a:normAutofit fontScale="85000" lnSpcReduction="10000"/>
          </a:bodyPr>
          <a:lstStyle/>
          <a:p>
            <a:pPr>
              <a:lnSpc>
                <a:spcPct val="150000"/>
              </a:lnSpc>
            </a:pPr>
            <a:r>
              <a:rPr lang="en-US" sz="2400" b="1" dirty="0" smtClean="0"/>
              <a:t>MongoDB:</a:t>
            </a:r>
            <a:r>
              <a:rPr lang="en-US" sz="2400" dirty="0" smtClean="0"/>
              <a:t> NoSQL  </a:t>
            </a:r>
            <a:r>
              <a:rPr lang="en-US" sz="2400" dirty="0" smtClean="0">
                <a:latin typeface="Arial Black" pitchFamily="34" charset="0"/>
              </a:rPr>
              <a:t>non-relational databases </a:t>
            </a:r>
            <a:r>
              <a:rPr lang="en-US" sz="2400" dirty="0" smtClean="0"/>
              <a:t> for storing JSON-like documents.</a:t>
            </a:r>
          </a:p>
          <a:p>
            <a:pPr>
              <a:lnSpc>
                <a:spcPct val="150000"/>
              </a:lnSpc>
            </a:pPr>
            <a:r>
              <a:rPr lang="en-US" sz="2400" b="1" dirty="0" smtClean="0"/>
              <a:t>Mongoose:</a:t>
            </a:r>
            <a:r>
              <a:rPr lang="en-US" sz="2400" dirty="0" smtClean="0"/>
              <a:t> An Object-Relational Mapping (ORM) library for Node.js that connects your app to MongoDB.</a:t>
            </a:r>
          </a:p>
          <a:p>
            <a:pPr>
              <a:lnSpc>
                <a:spcPct val="150000"/>
              </a:lnSpc>
            </a:pPr>
            <a:endParaRPr lang="en-US" sz="2400" dirty="0" smtClean="0"/>
          </a:p>
          <a:p>
            <a:pPr>
              <a:lnSpc>
                <a:spcPct val="150000"/>
              </a:lnSpc>
            </a:pPr>
            <a:r>
              <a:rPr lang="en-US" sz="2400" b="1" dirty="0" smtClean="0"/>
              <a:t>Why Use Mongoose:</a:t>
            </a:r>
            <a:endParaRPr lang="en-US" sz="2400" dirty="0" smtClean="0"/>
          </a:p>
          <a:p>
            <a:pPr>
              <a:lnSpc>
                <a:spcPct val="150000"/>
              </a:lnSpc>
            </a:pPr>
            <a:r>
              <a:rPr lang="en-US" sz="2400" dirty="0" smtClean="0"/>
              <a:t>Defines </a:t>
            </a:r>
            <a:r>
              <a:rPr lang="en-US" sz="2400" b="1" dirty="0" smtClean="0"/>
              <a:t>schemas</a:t>
            </a:r>
            <a:r>
              <a:rPr lang="en-US" sz="2400" dirty="0" smtClean="0"/>
              <a:t> to structure your data.</a:t>
            </a:r>
          </a:p>
          <a:p>
            <a:pPr>
              <a:lnSpc>
                <a:spcPct val="150000"/>
              </a:lnSpc>
            </a:pPr>
            <a:r>
              <a:rPr lang="en-US" sz="2400" dirty="0" smtClean="0"/>
              <a:t>Provides </a:t>
            </a:r>
            <a:r>
              <a:rPr lang="en-US" sz="2400" b="1" dirty="0" smtClean="0"/>
              <a:t>models</a:t>
            </a:r>
            <a:r>
              <a:rPr lang="en-US" sz="2400" dirty="0" smtClean="0"/>
              <a:t> to perform CRUD operations easily.</a:t>
            </a:r>
          </a:p>
          <a:p>
            <a:pPr>
              <a:lnSpc>
                <a:spcPct val="150000"/>
              </a:lnSpc>
            </a:pPr>
            <a:r>
              <a:rPr lang="en-US" sz="2400" dirty="0" smtClean="0"/>
              <a:t>Includes built-in </a:t>
            </a:r>
            <a:r>
              <a:rPr lang="en-US" sz="2400" b="1" dirty="0" smtClean="0"/>
              <a:t>validation, hooks, and middleware</a:t>
            </a:r>
            <a:r>
              <a:rPr lang="en-US" sz="2400" dirty="0" smtClean="0"/>
              <a: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mongoose.png"/>
          <p:cNvPicPr>
            <a:picLocks noChangeAspect="1"/>
          </p:cNvPicPr>
          <p:nvPr/>
        </p:nvPicPr>
        <p:blipFill>
          <a:blip r:embed="rId2"/>
          <a:stretch>
            <a:fillRect/>
          </a:stretch>
        </p:blipFill>
        <p:spPr>
          <a:xfrm>
            <a:off x="571472" y="873579"/>
            <a:ext cx="8143932" cy="3341240"/>
          </a:xfrm>
          <a:prstGeom prst="rect">
            <a:avLst/>
          </a:prstGeom>
        </p:spPr>
      </p:pic>
      <p:sp>
        <p:nvSpPr>
          <p:cNvPr id="5" name="TextBox 4"/>
          <p:cNvSpPr txBox="1"/>
          <p:nvPr/>
        </p:nvSpPr>
        <p:spPr>
          <a:xfrm>
            <a:off x="1428728" y="4357694"/>
            <a:ext cx="6858048" cy="369332"/>
          </a:xfrm>
          <a:prstGeom prst="rect">
            <a:avLst/>
          </a:prstGeom>
          <a:noFill/>
        </p:spPr>
        <p:txBody>
          <a:bodyPr wrap="square" rtlCol="0">
            <a:spAutoFit/>
          </a:bodyPr>
          <a:lstStyle/>
          <a:p>
            <a:pPr algn="ctr"/>
            <a:r>
              <a:rPr lang="en-US" b="1" dirty="0" smtClean="0"/>
              <a:t>Using Mongoose ORM for database communication</a:t>
            </a:r>
            <a:endParaRPr lang="en-US" b="1" dirty="0">
              <a:latin typeface="Arial Black"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2000" b="1" dirty="0" smtClean="0">
                <a:latin typeface="Arial Black" pitchFamily="34" charset="0"/>
              </a:rPr>
              <a:t>Challenges Encountered During IT</a:t>
            </a:r>
            <a:endParaRPr lang="en-US" sz="2000" b="1" dirty="0">
              <a:latin typeface="Arial Black" pitchFamily="34" charset="0"/>
            </a:endParaRPr>
          </a:p>
        </p:txBody>
      </p:sp>
      <p:sp>
        <p:nvSpPr>
          <p:cNvPr id="5" name="Content Placeholder 4"/>
          <p:cNvSpPr>
            <a:spLocks noGrp="1"/>
          </p:cNvSpPr>
          <p:nvPr>
            <p:ph sz="quarter" idx="1"/>
          </p:nvPr>
        </p:nvSpPr>
        <p:spPr/>
        <p:txBody>
          <a:bodyPr/>
          <a:lstStyle/>
          <a:p>
            <a:r>
              <a:rPr lang="en-US" sz="2400" b="1" dirty="0" smtClean="0"/>
              <a:t>Transportation &amp; traffic issues</a:t>
            </a:r>
            <a:r>
              <a:rPr lang="en-US" sz="2400" dirty="0" smtClean="0"/>
              <a:t> – Difficulty reaching the IT location on time due to traffic delays.</a:t>
            </a:r>
          </a:p>
          <a:p>
            <a:endParaRPr lang="en-US" sz="2400" dirty="0" smtClean="0"/>
          </a:p>
          <a:p>
            <a:r>
              <a:rPr lang="en-US" sz="2400" b="1" dirty="0" smtClean="0"/>
              <a:t>Time constraints</a:t>
            </a:r>
            <a:r>
              <a:rPr lang="en-US" sz="2400" dirty="0" smtClean="0"/>
              <a:t> – Not enough time was given to complete some tasks properly.</a:t>
            </a:r>
          </a:p>
          <a:p>
            <a:endParaRPr lang="en-US" sz="2400" dirty="0" smtClean="0"/>
          </a:p>
          <a:p>
            <a:r>
              <a:rPr lang="en-US" sz="2400" b="1" dirty="0" smtClean="0"/>
              <a:t>Tight schedules</a:t>
            </a:r>
            <a:r>
              <a:rPr lang="en-US" sz="2400" dirty="0" smtClean="0"/>
              <a:t> – Balancing tasks and deadlines was challenging.</a:t>
            </a:r>
          </a:p>
          <a:p>
            <a:endParaRPr lang="en-US" sz="2400" dirty="0" smtClean="0"/>
          </a:p>
          <a:p>
            <a:r>
              <a:rPr lang="en-US" sz="2400" b="1" dirty="0" smtClean="0"/>
              <a:t>Network/internet issues</a:t>
            </a:r>
          </a:p>
          <a:p>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latin typeface="Arial Black" pitchFamily="34" charset="0"/>
              </a:rPr>
              <a:t>Conclusion </a:t>
            </a:r>
            <a:endParaRPr lang="en-US" sz="2400" b="1" dirty="0">
              <a:latin typeface="Arial Black" pitchFamily="34" charset="0"/>
            </a:endParaRPr>
          </a:p>
        </p:txBody>
      </p:sp>
      <p:sp>
        <p:nvSpPr>
          <p:cNvPr id="3" name="Content Placeholder 2"/>
          <p:cNvSpPr>
            <a:spLocks noGrp="1"/>
          </p:cNvSpPr>
          <p:nvPr>
            <p:ph sz="quarter" idx="1"/>
          </p:nvPr>
        </p:nvSpPr>
        <p:spPr/>
        <p:txBody>
          <a:bodyPr>
            <a:normAutofit fontScale="77500" lnSpcReduction="20000"/>
          </a:bodyPr>
          <a:lstStyle/>
          <a:p>
            <a:endParaRPr lang="en-US" dirty="0" smtClean="0"/>
          </a:p>
          <a:p>
            <a:pPr algn="ctr">
              <a:buNone/>
            </a:pPr>
            <a:r>
              <a:rPr lang="en-US" b="1" dirty="0" smtClean="0"/>
              <a:t>Summary of Skills Gained</a:t>
            </a:r>
          </a:p>
          <a:p>
            <a:r>
              <a:rPr lang="en-US" dirty="0" smtClean="0"/>
              <a:t>Gained practical experience in Node.js, Express.js, MongoDB, and teamwork.</a:t>
            </a:r>
          </a:p>
          <a:p>
            <a:pPr algn="ctr">
              <a:buNone/>
            </a:pPr>
            <a:r>
              <a:rPr lang="en-US" b="1" dirty="0" smtClean="0"/>
              <a:t>How IT Improved my Knowledge</a:t>
            </a:r>
          </a:p>
          <a:p>
            <a:r>
              <a:rPr lang="en-US" dirty="0" smtClean="0"/>
              <a:t>Enhanced my problem-solving and project management skills.</a:t>
            </a:r>
          </a:p>
          <a:p>
            <a:pPr algn="ctr">
              <a:buNone/>
            </a:pPr>
            <a:r>
              <a:rPr lang="en-US" b="1" dirty="0" smtClean="0"/>
              <a:t>Appreciation:</a:t>
            </a:r>
          </a:p>
          <a:p>
            <a:r>
              <a:rPr lang="en-US" dirty="0" smtClean="0"/>
              <a:t>I sincerely appreciate Kodex AFRICA, my supervisor, and my school for this valuable</a:t>
            </a:r>
          </a:p>
          <a:p>
            <a:endParaRPr lang="en-US" dirty="0" smtClean="0"/>
          </a:p>
          <a:p>
            <a:r>
              <a:rPr lang="en-US" dirty="0" smtClean="0"/>
              <a:t>This experience has prepared me to contribute effectively in a professional tech environment.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b="1" dirty="0" smtClean="0">
                <a:latin typeface="Arial Black" pitchFamily="34" charset="0"/>
              </a:rPr>
              <a:t>Demonstration of IT Activities</a:t>
            </a:r>
            <a:endParaRPr lang="en-US" sz="2400" b="1" dirty="0">
              <a:latin typeface="Arial Black" pitchFamily="34" charset="0"/>
            </a:endParaRPr>
          </a:p>
        </p:txBody>
      </p:sp>
      <p:sp>
        <p:nvSpPr>
          <p:cNvPr id="3" name="Content Placeholder 2"/>
          <p:cNvSpPr>
            <a:spLocks noGrp="1"/>
          </p:cNvSpPr>
          <p:nvPr>
            <p:ph sz="quarter" idx="1"/>
          </p:nvPr>
        </p:nvSpPr>
        <p:spPr/>
        <p:txBody>
          <a:bodyPr>
            <a:normAutofit/>
          </a:bodyPr>
          <a:lstStyle/>
          <a:p>
            <a:r>
              <a:rPr lang="en-US" sz="2400" b="1" dirty="0" smtClean="0"/>
              <a:t>Third week of the program:</a:t>
            </a:r>
            <a:r>
              <a:rPr lang="en-US" sz="2400" dirty="0" smtClean="0"/>
              <a:t> A task was given to build a </a:t>
            </a:r>
            <a:r>
              <a:rPr lang="en-US" sz="2400" b="1" dirty="0" smtClean="0"/>
              <a:t>To-Do web app with authentication</a:t>
            </a:r>
            <a:r>
              <a:rPr lang="en-US" sz="2400" dirty="0" smtClean="0"/>
              <a:t>.</a:t>
            </a:r>
          </a:p>
          <a:p>
            <a:r>
              <a:rPr lang="en-US" sz="2400" dirty="0" err="1" smtClean="0"/>
              <a:t>GitHub</a:t>
            </a:r>
            <a:r>
              <a:rPr lang="en-US" sz="2400" dirty="0" smtClean="0"/>
              <a:t> repository: </a:t>
            </a:r>
            <a:r>
              <a:rPr lang="en-US" sz="2400" dirty="0" smtClean="0">
                <a:hlinkClick r:id="rId2"/>
              </a:rPr>
              <a:t>https://github.com/skido600/todotask.git</a:t>
            </a:r>
            <a:endParaRPr lang="en-US" sz="2400" dirty="0" smtClean="0"/>
          </a:p>
          <a:p>
            <a:r>
              <a:rPr lang="en-US" sz="2400" b="1" dirty="0" smtClean="0"/>
              <a:t>Project 2:</a:t>
            </a:r>
            <a:r>
              <a:rPr lang="en-US" sz="2400" dirty="0" smtClean="0"/>
              <a:t> I worked on a </a:t>
            </a:r>
            <a:r>
              <a:rPr lang="en-US" sz="2400" b="1" dirty="0" smtClean="0"/>
              <a:t>Bank API</a:t>
            </a:r>
            <a:r>
              <a:rPr lang="en-US" sz="2400" dirty="0" smtClean="0"/>
              <a:t>.</a:t>
            </a:r>
          </a:p>
          <a:p>
            <a:r>
              <a:rPr lang="en-US" sz="2400" dirty="0" err="1" smtClean="0"/>
              <a:t>GitHub</a:t>
            </a:r>
            <a:r>
              <a:rPr lang="en-US" sz="2400" dirty="0" smtClean="0"/>
              <a:t> repository: </a:t>
            </a:r>
            <a:r>
              <a:rPr lang="en-US" sz="2400" dirty="0" smtClean="0">
                <a:hlinkClick r:id="rId3"/>
              </a:rPr>
              <a:t>https://github.com/skido600/bank_api.git</a:t>
            </a:r>
            <a:endParaRPr lang="en-US" sz="2400" dirty="0" smtClean="0"/>
          </a:p>
          <a:p>
            <a:r>
              <a:rPr lang="en-US" sz="2400" b="1" dirty="0" smtClean="0"/>
              <a:t>Project 3:</a:t>
            </a:r>
            <a:r>
              <a:rPr lang="en-US" sz="2400" dirty="0" smtClean="0"/>
              <a:t> I worked on a </a:t>
            </a:r>
            <a:r>
              <a:rPr lang="en-US" sz="2400" b="1" dirty="0" smtClean="0"/>
              <a:t>transport a p I, where user can book driver  for local business,</a:t>
            </a:r>
          </a:p>
          <a:p>
            <a:r>
              <a:rPr lang="en-US" sz="2400" dirty="0" err="1" smtClean="0"/>
              <a:t>GitHub</a:t>
            </a:r>
            <a:r>
              <a:rPr lang="en-US" sz="2400" dirty="0" smtClean="0"/>
              <a:t> repository: https://github.com/skido600/tranportapi.git</a:t>
            </a:r>
          </a:p>
          <a:p>
            <a:endParaRPr lang="en-US" dirty="0" smtClean="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a:bodyPr>
          <a:lstStyle/>
          <a:p>
            <a:pPr algn="ctr">
              <a:buNone/>
            </a:pPr>
            <a:r>
              <a:rPr lang="en-US" sz="6600" dirty="0" smtClean="0">
                <a:latin typeface="Algerian" pitchFamily="82" charset="0"/>
              </a:rPr>
              <a:t>END</a:t>
            </a:r>
            <a:endParaRPr lang="en-US" sz="6600" dirty="0">
              <a:latin typeface="Algerian" pitchFamily="82" charset="0"/>
            </a:endParaRPr>
          </a:p>
        </p:txBody>
      </p:sp>
      <p:sp>
        <p:nvSpPr>
          <p:cNvPr id="2" name="Title 1"/>
          <p:cNvSpPr>
            <a:spLocks noGrp="1"/>
          </p:cNvSpPr>
          <p:nvPr>
            <p:ph type="title"/>
          </p:nvPr>
        </p:nvSpPr>
        <p:spPr/>
        <p:txBody>
          <a:bodyPr/>
          <a:lstStyle/>
          <a:p>
            <a:pPr algn="ctr"/>
            <a:r>
              <a:rPr lang="en-US" dirty="0" smtClean="0"/>
              <a:t>THE</a:t>
            </a: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bisi chinecherem leonard slide it defenc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ebisi chinecherem leonard slide it defence</Template>
  <TotalTime>1905</TotalTime>
  <Words>611</Words>
  <Application>Microsoft Office PowerPoint</Application>
  <PresentationFormat>On-screen Show (4:3)</PresentationFormat>
  <Paragraphs>60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ebisi chinecherem leonard slide it defence</vt:lpstr>
      <vt:lpstr>SWIES/IT Defence presentation BY  </vt:lpstr>
      <vt:lpstr>Kodex Africa (Summary) </vt:lpstr>
      <vt:lpstr>Experience Gathered (NODE JS, EXPRESS JS BACKEND &amp;&amp; MongoDB)</vt:lpstr>
      <vt:lpstr>Node.js </vt:lpstr>
      <vt:lpstr>Express.js</vt:lpstr>
      <vt:lpstr>MongoDB Database</vt:lpstr>
      <vt:lpstr>Slide 7</vt:lpstr>
      <vt:lpstr>Challenges Encountered During IT</vt:lpstr>
      <vt:lpstr>Conclusion </vt:lpstr>
      <vt:lpstr>Demonstration of IT Activities</vt:lpstr>
      <vt:lpstr>THE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SWIES/IT Defence presentation BY</dc:title>
  <dc:creator>ASUS</dc:creator>
  <cp:lastModifiedBy>ASUS</cp:lastModifiedBy>
  <cp:revision>37</cp:revision>
  <dcterms:created xsi:type="dcterms:W3CDTF">2025-12-12T16:47:23Z</dcterms:created>
  <dcterms:modified xsi:type="dcterms:W3CDTF">2025-12-14T12:52:44Z</dcterms:modified>
</cp:coreProperties>
</file>